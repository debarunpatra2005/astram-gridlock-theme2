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0"/>
            <a:ext cx="112471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4400" b="1">
                <a:solidFill>
                  <a:srgbClr val="FFFFFF"/>
                </a:solidFill>
                <a:latin typeface="Calibri"/>
              </a:rPr>
              <a:t>ASTRAM Congestion Copilot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10896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0">
                <a:solidFill>
                  <a:srgbClr val="CBD5E1"/>
                </a:solidFill>
                <a:latin typeface="Calibri"/>
              </a:rPr>
              <a:t>Forecasting event-driven congestion — and the plan to clear it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3886200"/>
            <a:ext cx="210312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20624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Gridlock Hackathon 2.0  ·  Round 2 (Prototype)  ·  Theme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70916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CBD5E1"/>
                </a:solidFill>
                <a:latin typeface="Calibri"/>
              </a:rPr>
              <a:t>Event-Driven Congestion (Planned &amp; Unplanned)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868680"/>
            <a:ext cx="502920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1148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2563EB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5156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B2545"/>
                </a:solidFill>
                <a:latin typeface="Calibri"/>
              </a:rPr>
              <a:t>Events break traffic faster than crews can react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365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2563EB"/>
                </a:solidFill>
                <a:latin typeface="Calibri"/>
              </a:rPr>
              <a:t>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2194560"/>
            <a:ext cx="969264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1E293B"/>
                </a:solidFill>
                <a:latin typeface="Calibri"/>
              </a:rPr>
              <a:t>Rallies, festivals, sports, construction &amp; sudden gatherings cause localized breakdowns.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07791"/>
            <a:ext cx="365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2563EB"/>
                </a:solidFill>
                <a:latin typeface="Calibri"/>
              </a:rPr>
              <a:t>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2907791"/>
            <a:ext cx="969264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1E293B"/>
                </a:solidFill>
                <a:latin typeface="Calibri"/>
              </a:rPr>
              <a:t>Today: event impact isn't quantified in advance.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621024"/>
            <a:ext cx="365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2563EB"/>
                </a:solidFill>
                <a:latin typeface="Calibri"/>
              </a:rPr>
              <a:t>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3621024"/>
            <a:ext cx="969264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1E293B"/>
                </a:solidFill>
                <a:latin typeface="Calibri"/>
              </a:rPr>
              <a:t>Resource deployment is experience-driven, not data-driven.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334256"/>
            <a:ext cx="365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2563EB"/>
                </a:solidFill>
                <a:latin typeface="Calibri"/>
              </a:rPr>
              <a:t>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4334256"/>
            <a:ext cx="969264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1E293B"/>
                </a:solidFill>
                <a:latin typeface="Calibri"/>
              </a:rPr>
              <a:t>No post-event learning system to improve next time.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39496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B2545"/>
                </a:solidFill>
                <a:latin typeface="Calibri"/>
              </a:rPr>
              <a:t>Theme 2 asks two things — forecast impact AND recommend manpower, barricading &amp; diversion. Most stop at prediction. We do both.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868680"/>
            <a:ext cx="502920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1148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2563EB"/>
                </a:solidFill>
                <a:latin typeface="Calibri"/>
              </a:rPr>
              <a:t>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5156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B2545"/>
                </a:solidFill>
                <a:latin typeface="Calibri"/>
              </a:rPr>
              <a:t>A working forecast-to-dispatch prototype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2563EB"/>
                </a:solidFill>
                <a:latin typeface="Calibri"/>
              </a:rPr>
              <a:t>▸  </a:t>
            </a:r>
            <a:r>
              <a:rPr sz="1700" b="1">
                <a:solidFill>
                  <a:srgbClr val="0B2545"/>
                </a:solidFill>
                <a:latin typeface="Calibri"/>
              </a:rPr>
              <a:t>FORECAST  —  </a:t>
            </a:r>
            <a:r>
              <a:rPr sz="1700" b="0">
                <a:solidFill>
                  <a:srgbClr val="1E293B"/>
                </a:solidFill>
                <a:latin typeface="Calibri"/>
              </a:rPr>
              <a:t>clearance time as a P10 / P50 / P90 interval, not a fragile guess.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35808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2563EB"/>
                </a:solidFill>
                <a:latin typeface="Calibri"/>
              </a:rPr>
              <a:t>▸  </a:t>
            </a:r>
            <a:r>
              <a:rPr sz="1700" b="1">
                <a:solidFill>
                  <a:srgbClr val="0B2545"/>
                </a:solidFill>
                <a:latin typeface="Calibri"/>
              </a:rPr>
              <a:t>RECOMMEND  —  </a:t>
            </a:r>
            <a:r>
              <a:rPr sz="1700" b="0">
                <a:solidFill>
                  <a:srgbClr val="1E293B"/>
                </a:solidFill>
                <a:latin typeface="Calibri"/>
              </a:rPr>
              <a:t>response team, crew count, equipment, barricading &amp; diversion.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877056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2563EB"/>
                </a:solidFill>
                <a:latin typeface="Calibri"/>
              </a:rPr>
              <a:t>▸  </a:t>
            </a:r>
            <a:r>
              <a:rPr sz="1700" b="1">
                <a:solidFill>
                  <a:srgbClr val="0B2545"/>
                </a:solidFill>
                <a:latin typeface="Calibri"/>
              </a:rPr>
              <a:t>DISPATCH  —  </a:t>
            </a:r>
            <a:r>
              <a:rPr sz="1700" b="0">
                <a:solidFill>
                  <a:srgbClr val="1E293B"/>
                </a:solidFill>
                <a:latin typeface="Calibri"/>
              </a:rPr>
              <a:t>shift-level pre-positioning plan by corridor × time window (CSV/JSON).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718304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2563EB"/>
                </a:solidFill>
                <a:latin typeface="Calibri"/>
              </a:rPr>
              <a:t>▸  </a:t>
            </a:r>
            <a:r>
              <a:rPr sz="1700" b="1">
                <a:solidFill>
                  <a:srgbClr val="0B2545"/>
                </a:solidFill>
                <a:latin typeface="Calibri"/>
              </a:rPr>
              <a:t>PREVENT  —  </a:t>
            </a:r>
            <a:r>
              <a:rPr sz="1700" b="0">
                <a:solidFill>
                  <a:srgbClr val="1E293B"/>
                </a:solidFill>
                <a:latin typeface="Calibri"/>
              </a:rPr>
              <a:t>recurring waterlogging / pothole / construction hotspots.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85216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475569"/>
                </a:solidFill>
                <a:latin typeface="Calibri"/>
              </a:rPr>
              <a:t>Live Streamlit app · trained on real ASTRAM / BTP event data.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868680"/>
            <a:ext cx="502920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1148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2563EB"/>
                </a:solidFill>
                <a:latin typeface="Calibri"/>
              </a:rPr>
              <a:t>FORECAST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5156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B2545"/>
                </a:solidFill>
                <a:latin typeface="Calibri"/>
              </a:rPr>
              <a:t>Why a range beats a single number</a:t>
            </a:r>
          </a:p>
        </p:txBody>
      </p:sp>
      <p:pic>
        <p:nvPicPr>
          <p:cNvPr id="5" name="Picture 4" descr="fig1_forecast_interva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2011680"/>
            <a:ext cx="9235440" cy="430987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868680"/>
            <a:ext cx="502920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1148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2563EB"/>
                </a:solidFill>
                <a:latin typeface="Calibri"/>
              </a:rPr>
              <a:t>THE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5156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B2545"/>
                </a:solidFill>
                <a:latin typeface="Calibri"/>
              </a:rPr>
              <a:t>Calibrated, leakage-safe, honest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365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2563EB"/>
                </a:solidFill>
                <a:latin typeface="Calibri"/>
              </a:rPr>
              <a:t>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2286000"/>
            <a:ext cx="969264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E293B"/>
                </a:solidFill>
                <a:latin typeface="Calibri"/>
              </a:rPr>
              <a:t>LightGBM on log-resolution + quantile models (P10/P50/P90).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035808"/>
            <a:ext cx="365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2563EB"/>
                </a:solidFill>
                <a:latin typeface="Calibri"/>
              </a:rPr>
              <a:t>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3035808"/>
            <a:ext cx="969264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E293B"/>
                </a:solidFill>
                <a:latin typeface="Calibri"/>
              </a:rPr>
              <a:t>Dedicated models for high-variance causes (potholes, construction).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785615"/>
            <a:ext cx="365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2563EB"/>
                </a:solidFill>
                <a:latin typeface="Calibri"/>
              </a:rPr>
              <a:t>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3785615"/>
            <a:ext cx="969264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E293B"/>
                </a:solidFill>
                <a:latin typeface="Calibri"/>
              </a:rPr>
              <a:t>Conformalized Quantile Regression calibrates the intervals.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535424"/>
            <a:ext cx="365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2563EB"/>
                </a:solidFill>
                <a:latin typeface="Calibri"/>
              </a:rPr>
              <a:t>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4535424"/>
            <a:ext cx="969264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E293B"/>
                </a:solidFill>
                <a:latin typeface="Calibri"/>
              </a:rPr>
              <a:t>Strict temporal validation — train on earlier events, test on later.</a:t>
            </a:r>
          </a:p>
        </p:txBody>
      </p:sp>
      <p:pic>
        <p:nvPicPr>
          <p:cNvPr id="13" name="Picture 12" descr="fig3_cqr_cover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2377440"/>
            <a:ext cx="4206240" cy="294436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868680"/>
            <a:ext cx="502920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1148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2563EB"/>
                </a:solidFill>
                <a:latin typeface="Calibri"/>
              </a:rPr>
              <a:t>DISPATCH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5156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B2545"/>
                </a:solidFill>
                <a:latin typeface="Calibri"/>
              </a:rPr>
              <a:t>Where &amp; when to pre-position crews</a:t>
            </a:r>
          </a:p>
        </p:txBody>
      </p:sp>
      <p:pic>
        <p:nvPicPr>
          <p:cNvPr id="5" name="Picture 4" descr="fig2_demand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1965960"/>
            <a:ext cx="9601200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868680"/>
            <a:ext cx="502920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1148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2563EB"/>
                </a:solidFill>
                <a:latin typeface="Calibri"/>
              </a:rPr>
              <a:t>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5156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B2545"/>
                </a:solidFill>
                <a:latin typeface="Calibri"/>
              </a:rPr>
              <a:t>Honest numbers (temporal hold-out)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377440"/>
            <a:ext cx="3200400" cy="17373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606040"/>
            <a:ext cx="3200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3600" b="1">
                <a:solidFill>
                  <a:srgbClr val="2563EB"/>
                </a:solidFill>
                <a:latin typeface="Calibri"/>
              </a:rPr>
              <a:t>1.4 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429000"/>
            <a:ext cx="2834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475569"/>
                </a:solidFill>
                <a:latin typeface="Calibri"/>
              </a:rPr>
              <a:t>Typical (median) error</a:t>
            </a:r>
          </a:p>
        </p:txBody>
      </p:sp>
      <p:sp>
        <p:nvSpPr>
          <p:cNvPr id="8" name="Rectangle 7"/>
          <p:cNvSpPr/>
          <p:nvPr/>
        </p:nvSpPr>
        <p:spPr>
          <a:xfrm>
            <a:off x="4526280" y="2377440"/>
            <a:ext cx="3200400" cy="17373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2606040"/>
            <a:ext cx="3200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3600" b="1">
                <a:solidFill>
                  <a:srgbClr val="2563EB"/>
                </a:solidFill>
                <a:latin typeface="Calibri"/>
              </a:rPr>
              <a:t>~0.7 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3429000"/>
            <a:ext cx="2834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475569"/>
                </a:solidFill>
                <a:latin typeface="Calibri"/>
              </a:rPr>
              <a:t>Vehicle breakdown P50 (60% of all events)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0" y="2377440"/>
            <a:ext cx="3200400" cy="17373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2606040"/>
            <a:ext cx="3200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3600" b="1">
                <a:solidFill>
                  <a:srgbClr val="2563EB"/>
                </a:solidFill>
                <a:latin typeface="Calibri"/>
              </a:rPr>
              <a:t>75%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3429000"/>
            <a:ext cx="2834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475569"/>
                </a:solidFill>
                <a:latin typeface="Calibri"/>
              </a:rPr>
              <a:t>P10–P90 coverage (60% → after CQR)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572000"/>
            <a:ext cx="103327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E293B"/>
                </a:solidFill>
                <a:latin typeface="Calibri"/>
              </a:rPr>
              <a:t>Mean error looks large only because rare multi-day infrastructure incidents dominate the average — which is exactly why we report intervals. Surfaced in the app's Model Card, not hidden.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868680"/>
            <a:ext cx="502920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1148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2563EB"/>
                </a:solidFill>
                <a:latin typeface="Calibri"/>
              </a:rPr>
              <a:t>DEMO &amp;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5156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B2545"/>
                </a:solidFill>
                <a:latin typeface="Calibri"/>
              </a:rPr>
              <a:t>From incident to action in one screen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365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563EB"/>
                </a:solidFill>
                <a:latin typeface="Calibri"/>
              </a:rPr>
              <a:t>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2194560"/>
            <a:ext cx="969264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Breakdown, Mysore Rd, 6 AM → ~0.7 h, HIGH, 2 towing units.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07791"/>
            <a:ext cx="365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563EB"/>
                </a:solidFill>
                <a:latin typeface="Calibri"/>
              </a:rPr>
              <a:t>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2907791"/>
            <a:ext cx="969264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Waterlogging + closure → ~24 h (P90 ~170 h), CRITICAL, pumps + diversion.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621024"/>
            <a:ext cx="365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563EB"/>
                </a:solidFill>
                <a:latin typeface="Calibri"/>
              </a:rPr>
              <a:t>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3621024"/>
            <a:ext cx="969264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Dispatch tab → demand heatmap + downloadable staging plan.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334256"/>
            <a:ext cx="365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563EB"/>
                </a:solidFill>
                <a:latin typeface="Calibri"/>
              </a:rPr>
              <a:t>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4334256"/>
            <a:ext cx="969264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Hotspots tab → preventive-maintenance targets.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30352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B2545"/>
                </a:solidFill>
                <a:latin typeface="Calibri"/>
              </a:rPr>
              <a:t>Built on real BTP data · deployable today · scales to live ASTRAM feeds.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94360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2563EB"/>
                </a:solidFill>
                <a:latin typeface="Calibri"/>
              </a:rPr>
              <a:t>Thank you.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